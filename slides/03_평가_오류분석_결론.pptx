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모델별 BLEU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BLEU</c:v>
                </c:pt>
              </c:strCache>
            </c:strRef>
          </c:tx>
          <c:dPt>
            <c:idx val="0"/>
            <c:spPr>
              <a:solidFill>
                <a:srgbClr val="B5B5B5"/>
              </a:solidFill>
            </c:spPr>
          </c:dPt>
          <c:dPt>
            <c:idx val="1"/>
            <c:spPr>
              <a:solidFill>
                <a:srgbClr val="8A8A8A"/>
              </a:solidFill>
            </c:spPr>
          </c:dPt>
          <c:dPt>
            <c:idx val="2"/>
            <c:spPr>
              <a:solidFill>
                <a:srgbClr val="990011"/>
              </a:solidFill>
            </c:spPr>
          </c:dPt>
          <c:dPt>
            <c:idx val="3"/>
            <c:spPr>
              <a:solidFill>
                <a:srgbClr val="5A649B"/>
              </a:solidFill>
            </c:spPr>
          </c:dPt>
          <c:dPt>
            <c:idx val="4"/>
            <c:spPr>
              <a:solidFill>
                <a:srgbClr val="44508C"/>
              </a:solidFill>
            </c:spPr>
          </c:dPt>
          <c:dPt>
            <c:idx val="5"/>
            <c:spPr>
              <a:solidFill>
                <a:srgbClr val="2F3C7E"/>
              </a:solidFill>
            </c:spPr>
          </c:dPt>
          <c:cat>
            <c:strRef>
              <c:f>Sheet1!$A$2:$A$7</c:f>
              <c:strCache>
                <c:ptCount val="6"/>
                <c:pt idx="0">
                  <c:v>베이스라인 30ep</c:v>
                </c:pt>
                <c:pt idx="1">
                  <c:v>베이스라인</c:v>
                </c:pt>
                <c:pt idx="2">
                  <c:v>KoBART (결함)</c:v>
                </c:pt>
                <c:pt idx="3">
                  <c:v>KoBART B2</c:v>
                </c:pt>
                <c:pt idx="4">
                  <c:v>KoBART B0</c:v>
                </c:pt>
                <c:pt idx="5">
                  <c:v>KoBART B1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</c:v>
                </c:pt>
                <c:pt idx="1">
                  <c:v>4.87</c:v>
                </c:pt>
                <c:pt idx="2">
                  <c:v>5.21</c:v>
                </c:pt>
                <c:pt idx="3">
                  <c:v>6.32</c:v>
                </c:pt>
                <c:pt idx="4">
                  <c:v>7.1</c:v>
                </c:pt>
                <c:pt idx="5">
                  <c:v>7.28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>
                  <a:solidFill>
                    <a:srgbClr val="231F2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31F20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E6A6B"/>
                </a:solidFill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부분에서는 모델을 어떻게 평가했는지, 예상과 다른 결과가 나왔을 때 원인을 어떻게 찾아갔는지, 그리고 최종적으로 뭘 확인했는지를 말씀드리겠습니다. 제일 하고 싶은 얘기는 하나예요. 가장 큰 성능 개선이 모델을 바꿔서가 아니라, 파이프라인에 있던 결함 하나를 고쳐서 나왔다는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지표를 네 개에 보조 두 개까지 본 이유가 있습니다. 챗봇 응답은 정답이 하나가 아니라서, 정답이랑 얼마나 겹치는지만 보면 모델을 잘못 판단하기 쉽거든요. 그래서 서로 다른 실패를 잡는 지표를 같이 봤습니다. Distinct-n은 전체 응답을 다 합쳐서 계산하는데, 그래야 '모든 질문에 비슷한 답만 한다'는 붕괴가 잡힙니다. 평균 길이는 짧게 써서 BLEU가 올라가는 착시를 잡아주고요. 그리고 실제로 이 평균 길이 지표가 결함을 찾아낸 첫 단서가 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val_loss는 teacher forcing 상태, 그러니까 앞 토큰이 전부 정답일 때의 값이에요. 그런데 실제 생성은 자기가 만든 토큰을 다시 입력으로 씁니다. 조건이 다르죠. 이 둘이 크게 어긋나면 생성 과정 자체에 문제가 있다는 신호입니다. '챗봇이니까 원래 그렇겠지' 하고 넘어가는 게 편하긴 한데, 그러면 진짜 문제를 놓쳐요. 그래서 지표를 의심하기 전에 파이프라인부터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단서 세 개를 순서대로 좁혀갔습니다. 특히 세 번째가 중요한데요, '정답이 max_length에서 잘려서 EOS를 잃은 거 아니냐'는 그럴듯한 가설이 있었어요. 그런데 직접 세어보니 9,400건 중에 77건, 0.8%밖에 안 됐습니다. 그걸로는 대부분의 미완결 응답을 설명할 수가 없죠. 그래서 기각했습니다. 흔히 쓰는 파인튜닝 예제 코드를 그대로 따라 쓰면 이 결함이 조용히 들어옵니다. 그리고 loss만 보고 있으면 끝까지 발견을 못 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조건을 전부 고정하고 정답 인코딩 한 줄만 바꿨습니다. 그래서 이 변화는 전부 EOS 때문이라고 말할 수 있어요. 평균 길이를 보시면 정답이랑 똑같은 6.46형태소로 맞춰졌습니다. 그리고 대조군인 베이스라인은 값이 하나도 안 변했어요. 이 두 가지가 '원인이 EOS가 맞다'는 걸 뒷받침해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KoBART 계열 세 개가 베이스라인 전체를 앞섭니다. 여기서 중요한 건, 정확도랑 다양성이 같이 올랐다는 점이에요. 보통 이 둘은 상충합니다. 다양하게 쓰려고 하면 정답에서 멀어지니까요. 그런데 전이학습은 두 축을 같이 끌어올렸습니다. 그리고 오른쪽 아래를 보시면, val_loss가 제일 낮았던 설정이 BLEU 1등이 아니었어요. 세 개 전부 순위가 어긋났습니다. 이게 생성문을 직접 채점하는 단계를 따로 둔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 세 가지입니다. 첫째, 전이학습이 베이스라인을 확실히 앞서고, 학습 비용도 오히려 적게 들었습니다. 둘째, 제일 큰 개선은 모델을 바꿔서가 아니라 잘못된 걸 고쳐서 나왔어요. 셋째, loss가 좋다고 생성이 좋은 게 아니라서, 생성문을 직접 채점하는 단계가 꼭 필요합니다. 한계도 말씀드리면, 표면 불일치로 분류된 사례를 직접 읽어봤는데 10건 중 6건은 정답이랑 다를 뿐이지 사실 괜찮은 답이었어요. 그러니까 지금 BLEU 7.28은 실제보다 낮게 나온 값이고, 사람 평가나 의미 기반 지표가 필요하다는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00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0" y="457200"/>
            <a:ext cx="3703320" cy="594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0" b="1" i="0">
                <a:solidFill>
                  <a:srgbClr val="B3384A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6949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 · 오류 분석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4612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4D6DA"/>
                </a:solidFill>
                <a:latin typeface="맑은 고딕"/>
                <a:ea typeface="맑은 고딕"/>
                <a:cs typeface="맑은 고딕"/>
              </a:rPr>
              <a:t>한국어 챗봇 응답 생성 (Q → 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BFC5"/>
                </a:solidFill>
                <a:latin typeface="맑은 고딕"/>
                <a:ea typeface="맑은 고딕"/>
                <a:cs typeface="맑은 고딕"/>
              </a:rPr>
              <a:t>notebooks/final.ipynb 실행 결과 · test 1,175건 · 2026-09-21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평가 방법 — 지표 하나만 보면 틀립니다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5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챗봇은 정답이 하나가 아니라서, 서로 다른 실패를 잡아내는 지표를 같이 봐야 해요.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200400" cy="4617720"/>
          </a:xfrm>
          <a:prstGeom prst="roundRect">
            <a:avLst>
              <a:gd name="adj" fmla="val 8000"/>
            </a:avLst>
          </a:prstGeom>
          <a:solidFill>
            <a:srgbClr val="E8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3852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평가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276148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10312" indent="-210312">
              <a:spcAft>
                <a:spcPts val="1300"/>
              </a:spcAft>
              <a:buChar char="•"/>
            </a:pPr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test 1,175건 전부</a:t>
            </a:r>
          </a:p>
          <a:p>
            <a:pPr algn="l" marL="210312" indent="-210312">
              <a:spcAft>
                <a:spcPts val="1300"/>
              </a:spcAft>
              <a:buChar char="•"/>
            </a:pPr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학습에 한 번도 안 쓴 데이터</a:t>
            </a:r>
          </a:p>
          <a:p>
            <a:pPr algn="l" marL="210312" indent="-210312">
              <a:spcAft>
                <a:spcPts val="1300"/>
              </a:spcAft>
              <a:buChar char="•"/>
            </a:pPr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Okt 형태소 단위로 채점</a:t>
            </a:r>
          </a:p>
          <a:p>
            <a:pPr algn="l" marL="210312" indent="-210312">
              <a:spcAft>
                <a:spcPts val="1300"/>
              </a:spcAft>
              <a:buChar char="•"/>
            </a:pPr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디코딩은 beam5로 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왜 형태소 단위로 채점하나요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956048"/>
            <a:ext cx="276148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어절로 재면 조사 하나 차이로 0점이 돼요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("충전하세요" vs "충전 하세요")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음절로 재면 반대로 너무 후하고요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0" y="1691640"/>
          <a:ext cx="7434072" cy="37124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{5C22544A-7EE6-4342-B048-85BDC9FD1C3A}</a:tableStyleId>
              </a:tblPr>
              <a:tblGrid>
                <a:gridCol w="2103120"/>
                <a:gridCol w="5330952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이걸로 잡아내는 실패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BLEU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정답이랑 아예 다른 말을 하는 경우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ROUGE-L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정답의 핵심 내용을 빠뜨리는 경우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Distinct-1 / 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질문에 똑같은 답만 하는 붕괴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 응답률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아예 아무것도 못 만드는 경우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(보조) 연속 반복률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"마음을 마음을 마음을" 같은 반복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(보조) 평균 길이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짧게 써서 점수가 올라가는 착시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0" y="5733288"/>
            <a:ext cx="7434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↑ 이 보조 지표가 다음 장에서 결함을 찾아낸 첫 단서였어요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이상 징후 — loss는 제일 좋은데 문장이 안 끝나요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5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KoBART 파인튜닝하고 바로 확인한 내용입니다 (test 200건 표본, greedy)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E8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3182112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3.02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96896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KoBART val_loss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898648"/>
            <a:ext cx="32369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베이스라인 5.80보다 훨씬 좋아요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64592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F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810512"/>
            <a:ext cx="3182112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19.0%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596896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정상 문장 종결률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898648"/>
            <a:ext cx="32369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베이스라인은 95.0%인데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645920"/>
            <a:ext cx="3447288" cy="1691640"/>
          </a:xfrm>
          <a:prstGeom prst="roundRect">
            <a:avLst>
              <a:gd name="adj" fmla="val 8000"/>
            </a:avLst>
          </a:prstGeom>
          <a:solidFill>
            <a:srgbClr val="F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1810512"/>
            <a:ext cx="31729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31.85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596896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평균 생성 길이 (음절)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2898648"/>
            <a:ext cx="322783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정답 15.13의 두 배쯤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" y="3657600"/>
          <a:ext cx="10908792" cy="16093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{5C22544A-7EE6-4342-B048-85BDC9FD1C3A}</a:tableStyleId>
              </a:tblPr>
              <a:tblGrid>
                <a:gridCol w="3200400"/>
                <a:gridCol w="2743200"/>
                <a:gridCol w="2468880"/>
                <a:gridCol w="2496312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길이(음절)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종결률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best val_loss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(test A)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15.13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99.5%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KoBART 1차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31.85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19.0%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3.0183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베이스라인 (대조군)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15.48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95.0%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5.7957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" y="5440680"/>
            <a:ext cx="10908792" cy="960120"/>
          </a:xfrm>
          <a:prstGeom prst="roundRect">
            <a:avLst>
              <a:gd name="adj" fmla="val 8000"/>
            </a:avLst>
          </a:prstGeom>
          <a:solidFill>
            <a:srgbClr val="E8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68696"/>
            <a:ext cx="104241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설명은 두 가지예요 — </a:t>
            </a:r>
            <a:r>
              <a:rPr sz="130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(a) 챗봇은 원래 정답이 여러 개라서 그렇다   /   (b) 파이프라인에 문제가 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25312"/>
            <a:ext cx="104241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(a)로 넘어가면 진짜 문제를 놓칩니다. 그래서 (b)부터 확인했어요.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원인 추적 — 단서 세 개로 좁혀갔습니다</a:t>
            </a:r>
          </a:p>
        </p:txBody>
      </p:sp>
      <p:sp>
        <p:nvSpPr>
          <p:cNvPr id="3" name="Oval 2"/>
          <p:cNvSpPr/>
          <p:nvPr/>
        </p:nvSpPr>
        <p:spPr>
          <a:xfrm>
            <a:off x="658368" y="1636776"/>
            <a:ext cx="402336" cy="402336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1872" y="1600200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단서 1   생성 길이랑 종결률부터 재봤어요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947672"/>
            <a:ext cx="10332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정상 종결률 19.0%에 길이는 정답의 두 배  →  "정답이 여러 개라서"로는 설명이 안 됩니다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2569464"/>
            <a:ext cx="402336" cy="402336"/>
          </a:xfrm>
          <a:prstGeom prst="ellipse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532888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단서 2   학습에 들어간 정답 토큰을 직접 찍어봤어요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880360"/>
            <a:ext cx="10332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KoBART 토크나이저가 text_target= 으로 인코딩할 때 EOS를 안 붙입니다  (입력 쪽은 붙이고요)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3502152"/>
            <a:ext cx="402336" cy="402336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3465576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단서 3   그럴듯한 다른 가설도 세어보고 기각했어요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813048"/>
            <a:ext cx="10332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"정답이 잘려서 EOS가 날아간 거 아니냐"  →  실제로 잘리는 건 77 / 9,400건, 0.8%뿐이었습니다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10908792" cy="1783080"/>
          </a:xfrm>
          <a:prstGeom prst="roundRect">
            <a:avLst>
              <a:gd name="adj" fmla="val 8000"/>
            </a:avLst>
          </a:prstGeom>
          <a:solidFill>
            <a:srgbClr val="F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68172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근본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0292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학습용 정답에 EOS가 없어서, 모델이 "문장을 끝내는 법"을 배울 기회가 아예 없었습니다.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504688"/>
            <a:ext cx="10424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베이스라인은 왜 멀쩡했냐면 — 직접 짠 encode_text()가 [BOS] + ids + [EOS]로 EOS를 붙이고 있었거든요.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같은 처리를 전이학습 쪽에만 빠뜨린 겁니다.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EOS 고치고 다시 돌렸습니다 — 통제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42415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바꾼 건 정답 인코딩 한 줄뿐이에요. 모델 · lr · 배치 · epoch · 시드 · 데이터는 그대로 뒀습니다.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6492240" cy="30723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146304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 전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 후</a:t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2F3C7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BLEU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5.21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7.10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+36%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ROUGE-L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19.18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24.12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+26%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문장 종결률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19.0%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97.5%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단위 반복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26.3%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1.1%</a:t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F7F3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31F2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길이 (형태소)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9001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12.56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3C7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6.46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6E6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6.46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06640" y="1737360"/>
            <a:ext cx="414223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8836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같은 질문, 같은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249424"/>
            <a:ext cx="3685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Q      청첩장을 찍는 날이 오다니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78608"/>
            <a:ext cx="3685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정답   결혼 얼마 안 남았나봐요.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62656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수정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236976"/>
            <a:ext cx="368503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"찍는 찍는 것도 재미있어요. 찍는 것도 재미있어요. 찍는"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95020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수정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24528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"축하해주세요."   ← 한 문장으로 딱 끝나요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20640"/>
            <a:ext cx="10908792" cy="1207008"/>
          </a:xfrm>
          <a:prstGeom prst="roundRect">
            <a:avLst>
              <a:gd name="adj" fmla="val 8000"/>
            </a:avLst>
          </a:prstGeom>
          <a:solidFill>
            <a:srgbClr val="E8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8523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대조군이 원인을 확정해 줍니다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650992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베이스라인은 이 수정이랑 상관없이 값이 그대로예요. 원래부터 EOS를 붙이고 있었으니까요. 문제가 있던 모델만 정확히 골라서 좋아진 겁니다.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최종 모델 비교 — test 1,175건, 디코딩 고정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600200"/>
          <a:ext cx="66751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635240" y="1645920"/>
            <a:ext cx="1874519" cy="1691640"/>
          </a:xfrm>
          <a:prstGeom prst="roundRect">
            <a:avLst>
              <a:gd name="adj" fmla="val 8000"/>
            </a:avLst>
          </a:prstGeom>
          <a:solidFill>
            <a:srgbClr val="E8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810512"/>
            <a:ext cx="160019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+49%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596896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BLEU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44967" y="2898648"/>
            <a:ext cx="165506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4.87 → 7.28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1645920"/>
            <a:ext cx="1856231" cy="1691640"/>
          </a:xfrm>
          <a:prstGeom prst="roundRect">
            <a:avLst>
              <a:gd name="adj" fmla="val 8000"/>
            </a:avLst>
          </a:prstGeom>
          <a:solidFill>
            <a:srgbClr val="E8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29800" y="1810512"/>
            <a:ext cx="158191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+70%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0" y="2596896"/>
            <a:ext cx="1581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31F20"/>
                </a:solidFill>
                <a:latin typeface="맑은 고딕"/>
                <a:ea typeface="맑은 고딕"/>
                <a:cs typeface="맑은 고딕"/>
              </a:rPr>
              <a:t>Distinct-2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2367" y="2898648"/>
            <a:ext cx="16367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0.303 → 0.515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611880"/>
            <a:ext cx="391363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45552" y="37673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학습 비용은 오히려 1/12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096512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베이스라인 117 epoch인데 KoBART는 10 epoch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754880"/>
            <a:ext cx="3913632" cy="960120"/>
          </a:xfrm>
          <a:prstGeom prst="roundRect">
            <a:avLst>
              <a:gd name="adj" fmla="val 8000"/>
            </a:avLst>
          </a:prstGeom>
          <a:solidFill>
            <a:srgbClr val="F6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49103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val_loss 순위 ≠ BLEU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5239512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6A6B"/>
                </a:solidFill>
                <a:latin typeface="맑은 고딕"/>
                <a:ea typeface="맑은 고딕"/>
                <a:cs typeface="맑은 고딕"/>
              </a:rPr>
              <a:t>하이퍼파라미터 3종이 전부 어긋났어요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정확도랑 다양성이 같이 올랐어요 — 보통은 하나가 오르면 하나가 내려갑니다.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 · 한계 · 앞으로 할 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08760"/>
            <a:ext cx="3456432" cy="4160520"/>
          </a:xfrm>
          <a:prstGeom prst="roundRect">
            <a:avLst>
              <a:gd name="adj" fmla="val 8000"/>
            </a:avLst>
          </a:prstGeom>
          <a:solidFill>
            <a:srgbClr val="3B4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" y="1737360"/>
            <a:ext cx="402336" cy="402336"/>
          </a:xfrm>
          <a:prstGeom prst="ellipse">
            <a:avLst/>
          </a:prstGeom>
          <a:solidFill>
            <a:srgbClr val="6B7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7922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86000"/>
            <a:ext cx="2980944" cy="3154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C9D0E8"/>
                </a:solidFill>
                <a:latin typeface="맑은 고딕"/>
                <a:ea typeface="맑은 고딕"/>
                <a:cs typeface="맑은 고딕"/>
              </a:rPr>
              <a:t>전이학습이 베이스라인을 앞섭니다 — BLEU +49%, 학습 비용은 1/12</a:t>
            </a:r>
          </a:p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C9D0E8"/>
                </a:solidFill>
                <a:latin typeface="맑은 고딕"/>
                <a:ea typeface="맑은 고딕"/>
                <a:cs typeface="맑은 고딕"/>
              </a:rPr>
              <a:t>제일 큰 개선은 모델을 바꿔서가 아니라 잘못된 걸 고쳐서 나왔어요</a:t>
            </a:r>
          </a:p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C9D0E8"/>
                </a:solidFill>
                <a:latin typeface="맑은 고딕"/>
                <a:ea typeface="맑은 고딕"/>
                <a:cs typeface="맑은 고딕"/>
              </a:rPr>
              <a:t>loss가 좋다고 생성이 좋은 건 아닙니다 (순위 3/3 어긋남)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508760"/>
            <a:ext cx="3456432" cy="4160520"/>
          </a:xfrm>
          <a:prstGeom prst="roundRect">
            <a:avLst>
              <a:gd name="adj" fmla="val 8000"/>
            </a:avLst>
          </a:prstGeom>
          <a:solidFill>
            <a:srgbClr val="3B4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576" y="1737360"/>
            <a:ext cx="402336" cy="402336"/>
          </a:xfrm>
          <a:prstGeom prst="ellipse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7922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286000"/>
            <a:ext cx="2980944" cy="3154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F0C2C8"/>
                </a:solidFill>
                <a:latin typeface="맑은 고딕"/>
                <a:ea typeface="맑은 고딕"/>
                <a:cs typeface="맑은 고딕"/>
              </a:rPr>
              <a:t>BLEU가 실제보다 낮게 나와요 — 표면 불일치 10건 중 6건은 사실 괜찮은 답이었습니다</a:t>
            </a:r>
          </a:p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F0C2C8"/>
                </a:solidFill>
                <a:latin typeface="맑은 고딕"/>
                <a:ea typeface="맑은 고딕"/>
                <a:cs typeface="맑은 고딕"/>
              </a:rPr>
              <a:t>설정마다 시드 하나로 한 번씩만 돌렸어요</a:t>
            </a:r>
          </a:p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F0C2C8"/>
                </a:solidFill>
                <a:latin typeface="맑은 고딕"/>
                <a:ea typeface="맑은 고딕"/>
                <a:cs typeface="맑은 고딕"/>
              </a:rPr>
              <a:t>label 쏠림 — 일상 12.01인데 이별 3.91 · 사랑 3.80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508760"/>
            <a:ext cx="3456432" cy="4160520"/>
          </a:xfrm>
          <a:prstGeom prst="roundRect">
            <a:avLst>
              <a:gd name="adj" fmla="val 8000"/>
            </a:avLst>
          </a:prstGeom>
          <a:solidFill>
            <a:srgbClr val="3B4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39327" y="1737360"/>
            <a:ext cx="402336" cy="402336"/>
          </a:xfrm>
          <a:prstGeom prst="ellipse">
            <a:avLst/>
          </a:prstGeom>
          <a:solidFill>
            <a:srgbClr val="6B7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17922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앞으로 할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286000"/>
            <a:ext cx="2980944" cy="3154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C9D0E8"/>
                </a:solidFill>
                <a:latin typeface="맑은 고딕"/>
                <a:ea typeface="맑은 고딕"/>
                <a:cs typeface="맑은 고딕"/>
              </a:rPr>
              <a:t>사람 평가나 BERTScore 같은 의미 기반 지표 더하기</a:t>
            </a:r>
          </a:p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C9D0E8"/>
                </a:solidFill>
                <a:latin typeface="맑은 고딕"/>
                <a:ea typeface="맑은 고딕"/>
                <a:cs typeface="맑은 고딕"/>
              </a:rPr>
              <a:t>시드 바꿔서 하이퍼파라미터 실험 다시 돌리기</a:t>
            </a:r>
          </a:p>
          <a:p>
            <a:pPr algn="l" marL="210312" indent="-210312">
              <a:spcAft>
                <a:spcPts val="1600"/>
              </a:spcAft>
              <a:buChar char="•"/>
            </a:pPr>
            <a:r>
              <a:rPr sz="1300" b="0" i="0">
                <a:solidFill>
                  <a:srgbClr val="C9D0E8"/>
                </a:solidFill>
                <a:latin typeface="맑은 고딕"/>
                <a:ea typeface="맑은 고딕"/>
                <a:cs typeface="맑은 고딕"/>
              </a:rPr>
              <a:t>label 1 · 2 데이터 보강하기 (가중 샘플링 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F4D6DA"/>
                </a:solidFill>
                <a:latin typeface="맑은 고딕"/>
                <a:ea typeface="맑은 고딕"/>
                <a:cs typeface="맑은 고딕"/>
              </a:rPr>
              <a:t>지표랑 눈으로 본 결과가 어긋나면, 지표를 의심하기 전에 파이프라인부터 의심하세요.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