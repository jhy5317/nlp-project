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모델별 BLEU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BLEU</c:v>
                </c:pt>
              </c:strCache>
            </c:strRef>
          </c:tx>
          <c:dPt>
            <c:idx val="0"/>
            <c:spPr>
              <a:solidFill>
                <a:srgbClr val="B5B5B5"/>
              </a:solidFill>
            </c:spPr>
          </c:dPt>
          <c:dPt>
            <c:idx val="1"/>
            <c:spPr>
              <a:solidFill>
                <a:srgbClr val="8A8A8A"/>
              </a:solidFill>
            </c:spPr>
          </c:dPt>
          <c:dPt>
            <c:idx val="2"/>
            <c:spPr>
              <a:solidFill>
                <a:srgbClr val="990011"/>
              </a:solidFill>
            </c:spPr>
          </c:dPt>
          <c:dPt>
            <c:idx val="3"/>
            <c:spPr>
              <a:solidFill>
                <a:srgbClr val="5A649B"/>
              </a:solidFill>
            </c:spPr>
          </c:dPt>
          <c:dPt>
            <c:idx val="4"/>
            <c:spPr>
              <a:solidFill>
                <a:srgbClr val="44508C"/>
              </a:solidFill>
            </c:spPr>
          </c:dPt>
          <c:dPt>
            <c:idx val="5"/>
            <c:spPr>
              <a:solidFill>
                <a:srgbClr val="2F3C7E"/>
              </a:solidFill>
            </c:spPr>
          </c:dPt>
          <c:cat>
            <c:strRef>
              <c:f>Sheet1!$A$2:$A$7</c:f>
              <c:strCache>
                <c:ptCount val="6"/>
                <c:pt idx="0">
                  <c:v>베이스라인 30ep</c:v>
                </c:pt>
                <c:pt idx="1">
                  <c:v>베이스라인</c:v>
                </c:pt>
                <c:pt idx="2">
                  <c:v>KoBART (결함)</c:v>
                </c:pt>
                <c:pt idx="3">
                  <c:v>KoBART B2</c:v>
                </c:pt>
                <c:pt idx="4">
                  <c:v>KoBART B0</c:v>
                </c:pt>
                <c:pt idx="5">
                  <c:v>KoBART B1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1.7</c:v>
                </c:pt>
                <c:pt idx="1">
                  <c:v>4.87</c:v>
                </c:pt>
                <c:pt idx="2">
                  <c:v>5.21</c:v>
                </c:pt>
                <c:pt idx="3">
                  <c:v>6.32</c:v>
                </c:pt>
                <c:pt idx="4">
                  <c:v>7.1</c:v>
                </c:pt>
                <c:pt idx="5">
                  <c:v>7.28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 b="1">
                  <a:solidFill>
                    <a:srgbClr val="231F20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31F20"/>
                </a:solidFill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A6B"/>
                </a:solidFill>
                <a:latin typeface="맑은 고딕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부분에서는 모델을 어떻게 평가했는지, 예상과 다른 결과가 나왔을 때 원인을 어떻게 찾아갔는지, 그리고 최종적으로 뭘 확인했는지를 말씀드리겠습니다. 제일 하고 싶은 얘기는 하나예요. 가장 큰 성능 개선이 모델을 바꿔서가 아니라, 파이프라인에 있던 결함 하나를 고쳐서 나왔다는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지표를 네 개에 보조 두 개까지 본 이유가 있습니다. 챗봇 응답은 정답이 하나가 아니라서, 정답이랑 얼마나 겹치는지만 보면 모델을 잘못 판단하기 쉽거든요. 그래서 서로 다른 실패를 잡는 지표를 같이 봤습니다. Distinct-n은 전체 응답을 다 합쳐서 계산하는데, 그래야 '모든 질문에 비슷한 답만 한다'는 붕괴가 잡힙니다. 평균 길이는 짧게 써서 BLEU가 올라가는 착시를 잡아주고요. 그리고 실제로 이 평균 길이 지표가 결함을 찾아낸 첫 단서가 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val_loss는 teacher forcing 상태, 그러니까 앞 토큰이 전부 정답일 때의 값이에요. 그런데 실제 생성은 자기가 만든 토큰을 다시 입력으로 씁니다. 조건이 다르죠. 이 둘이 크게 어긋나면 생성 과정 자체에 문제가 있다는 신호입니다. '챗봇이니까 원래 그렇겠지' 하고 넘어가는 게 편하긴 한데, 그러면 진짜 문제를 놓쳐요. 그래서 지표를 의심하기 전에 파이프라인부터 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단서 세 개를 순서대로 좁혀갔습니다. 특히 세 번째가 중요한데요, '정답이 max_length에서 잘려서 EOS를 잃은 거 아니냐'는 그럴듯한 가설이 있었어요. 그런데 직접 세어보니 9,400건 중에 77건, 0.8%밖에 안 됐습니다. 그걸로는 대부분의 미완결 응답을 설명할 수가 없죠. 그래서 기각했습니다. 흔히 쓰는 파인튜닝 예제 코드를 그대로 따라 쓰면 이 결함이 조용히 들어옵니다. 그리고 loss만 보고 있으면 끝까지 발견을 못 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다른 조건을 전부 고정하고 정답 인코딩 한 줄만 바꿨습니다. 그래서 이 변화는 전부 EOS 때문이라고 말할 수 있어요. 평균 길이를 보시면 정답이랑 똑같은 6.46형태소로 맞춰졌습니다. 그리고 대조군인 베이스라인은 값이 하나도 안 변했어요. 이 두 가지가 '원인이 EOS가 맞다'는 걸 뒷받침해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학습만 하고 끝낸 게 아니라 실제로 돌려봤습니다. 체크포인트 세 개를 그대로 올려서, 질문 하나를 세 모델에 동시에 넣고 답을 비교하는 웹 데모입니다. 화면 보시면 가운데 결함 모델만 빨간색으로 '문장이 안 끝남'이라고 뜹니다. 재미있는 건 잘리는 모양이 질문마다 다르다는 거예요. 청첩장은 같은 말을 반복하다 끊기고, 배고파는 여러 문장을 나열하다 끊기고, 이별 질문은 긴 위로가 이어지다 끊깁니다. 오른쪽 최종 모델은 세 경우 모두 한 문장으로 딱 끝납니다. 참고로 디코딩을 greedy로 바꾸면 왼쪽 베이스라인에서 같은 말을 반복하는 붕괴도 실시간으로 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KoBART 계열 세 개가 베이스라인 전체를 앞섭니다. 여기서 중요한 건, 정확도랑 다양성이 같이 올랐다는 점이에요. 보통 이 둘은 상충합니다. 다양하게 쓰려고 하면 정답에서 멀어지니까요. 그런데 전이학습은 두 축을 같이 끌어올렸습니다. 그리고 오른쪽 아래를 보시면, val_loss가 제일 낮았던 설정이 BLEU 1등이 아니었어요. 세 개 전부 순위가 어긋났습니다. 이게 생성문을 직접 채점하는 단계를 따로 둔 이유입니다.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정리하면 세 가지입니다. 첫째, 전이학습이 베이스라인을 확실히 앞서고, 학습 비용도 오히려 적게 들었습니다. 둘째, 제일 큰 개선은 모델을 바꿔서가 아니라 잘못된 걸 고쳐서 나왔어요. 셋째, loss가 좋다고 생성이 좋은 게 아니라서, 생성문을 직접 채점하는 단계가 꼭 필요합니다. 한계도 말씀드리면, 표면 불일치로 분류된 사례를 직접 읽어봤는데 10건 중 6건은 정답이랑 다를 뿐이지 사실 괜찮은 답이었어요. 그러니까 지금 BLEU 7.28은 실제보다 낮게 나온 값이고, 사람 평가나 의미 기반 지표가 필요하다는 뜻입니다.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0" y="457200"/>
            <a:ext cx="3703320" cy="594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0" b="1" i="0">
                <a:solidFill>
                  <a:srgbClr val="B3384A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6949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평가 · 오류 분석 ·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4D6DA"/>
                </a:solidFill>
                <a:latin typeface="맑은 고딕"/>
                <a:ea typeface="맑은 고딕"/>
                <a:cs typeface="맑은 고딕"/>
              </a:rPr>
              <a:t>한국어 챗봇 응답 생성 (Q → 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977639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BFC5"/>
                </a:solidFill>
                <a:latin typeface="맑은 고딕"/>
                <a:ea typeface="맑은 고딕"/>
                <a:cs typeface="맑은 고딕"/>
              </a:rPr>
              <a:t>notebooks/final.ipynb 실행 결과 · test 1,175건 · 2026-09-21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평가 방법 — 지표 하나만 보면 틀립니다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6E6A6B"/>
                </a:solidFill>
                <a:latin typeface="맑은 고딕"/>
                <a:ea typeface="맑은 고딕"/>
                <a:cs typeface="맑은 고딕"/>
              </a:rPr>
              <a:t>챗봇은 정답이 하나가 아니라서, 서로 다른 실패를 잡아내는 지표를 같이 봐야 해요.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200400" cy="4617720"/>
          </a:xfrm>
          <a:prstGeom prst="roundRect">
            <a:avLst>
              <a:gd name="adj" fmla="val 8000"/>
            </a:avLst>
          </a:prstGeom>
          <a:solidFill>
            <a:srgbClr val="E8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3852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F3C7E"/>
                </a:solidFill>
                <a:latin typeface="맑은 고딕"/>
                <a:ea typeface="맑은 고딕"/>
                <a:cs typeface="맑은 고딕"/>
              </a:rPr>
              <a:t>평가 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276148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0312" indent="-210312">
              <a:spcAft>
                <a:spcPts val="1300"/>
              </a:spcAft>
              <a:buChar char="•"/>
            </a:pPr>
            <a:r>
              <a:rPr sz="1250" b="0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test 1,175건 전부</a:t>
            </a:r>
          </a:p>
          <a:p>
            <a:pPr algn="l" marL="210312" indent="-210312">
              <a:spcAft>
                <a:spcPts val="1300"/>
              </a:spcAft>
              <a:buChar char="•"/>
            </a:pPr>
            <a:r>
              <a:rPr sz="1250" b="0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학습에 한 번도 안 쓴 데이터</a:t>
            </a:r>
          </a:p>
          <a:p>
            <a:pPr algn="l" marL="210312" indent="-210312">
              <a:spcAft>
                <a:spcPts val="1300"/>
              </a:spcAft>
              <a:buChar char="•"/>
            </a:pPr>
            <a:r>
              <a:rPr sz="1250" b="0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Okt 형태소 단위로 채점</a:t>
            </a:r>
          </a:p>
          <a:p>
            <a:pPr algn="l" marL="210312" indent="-210312">
              <a:spcAft>
                <a:spcPts val="1300"/>
              </a:spcAft>
              <a:buChar char="•"/>
            </a:pPr>
            <a:r>
              <a:rPr sz="1250" b="0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디코딩은 beam5로 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72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F3C7E"/>
                </a:solidFill>
                <a:latin typeface="맑은 고딕"/>
                <a:ea typeface="맑은 고딕"/>
                <a:cs typeface="맑은 고딕"/>
              </a:rPr>
              <a:t>왜 형태소 단위로 채점하나요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956048"/>
            <a:ext cx="276148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6E6A6B"/>
                </a:solidFill>
                <a:latin typeface="맑은 고딕"/>
                <a:ea typeface="맑은 고딕"/>
                <a:cs typeface="맑은 고딕"/>
              </a:rPr>
              <a:t>어절로 재면 조사 하나 차이로 0점이 돼요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6E6A6B"/>
                </a:solidFill>
                <a:latin typeface="맑은 고딕"/>
                <a:ea typeface="맑은 고딕"/>
                <a:cs typeface="맑은 고딕"/>
              </a:rPr>
              <a:t>("충전하세요" vs "충전 하세요")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6E6A6B"/>
                </a:solidFill>
                <a:latin typeface="맑은 고딕"/>
                <a:ea typeface="맑은 고딕"/>
                <a:cs typeface="맑은 고딕"/>
              </a:rPr>
              <a:t>음절로 재면 반대로 너무 후하고요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0" y="1691640"/>
          <a:ext cx="7434072" cy="371246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{5C22544A-7EE6-4342-B048-85BDC9FD1C3A}</a:tableStyleId>
              </a:tblPr>
              <a:tblGrid>
                <a:gridCol w="2103120"/>
                <a:gridCol w="5330952"/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91440" marR="91440" marT="18288" marB="18288" anchor="ctr"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이걸로 잡아내는 실패</a:t>
                      </a:r>
                    </a:p>
                  </a:txBody>
                  <a:tcPr marL="91440" marR="91440" marT="18288" marB="18288" anchor="ctr">
                    <a:solidFill>
                      <a:srgbClr val="2F3C7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BLEU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정답이랑 아예 다른 말을 하는 경우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ROUGE-L</a:t>
                      </a:r>
                    </a:p>
                  </a:txBody>
                  <a:tcPr marL="91440" marR="91440" marT="18288" marB="18288" anchor="ctr"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정답의 핵심 내용을 빠뜨리는 경우</a:t>
                      </a:r>
                    </a:p>
                  </a:txBody>
                  <a:tcPr marL="91440" marR="91440" marT="18288" marB="18288" anchor="ctr">
                    <a:solidFill>
                      <a:srgbClr val="F7F3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Distinct-1 / 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질문에 똑같은 답만 하는 붕괴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빈 응답률</a:t>
                      </a:r>
                    </a:p>
                  </a:txBody>
                  <a:tcPr marL="91440" marR="91440" marT="18288" marB="18288" anchor="ctr"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아예 아무것도 못 만드는 경우</a:t>
                      </a:r>
                    </a:p>
                  </a:txBody>
                  <a:tcPr marL="91440" marR="91440" marT="18288" marB="18288" anchor="ctr">
                    <a:solidFill>
                      <a:srgbClr val="F7F3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(보조) 연속 반복률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"마음을 마음을 마음을" 같은 반복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9900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(보조) 평균 길이</a:t>
                      </a:r>
                    </a:p>
                  </a:txBody>
                  <a:tcPr marL="91440" marR="91440" marT="18288" marB="18288" anchor="ctr"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9900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짧게 써서 점수가 올라가는 착시</a:t>
                      </a:r>
                    </a:p>
                  </a:txBody>
                  <a:tcPr marL="91440" marR="91440" marT="18288" marB="18288" anchor="ctr">
                    <a:solidFill>
                      <a:srgbClr val="F7F3F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0" y="5733288"/>
            <a:ext cx="7434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↑ 이 보조 지표가 다음 장에서 결함을 찾아낸 첫 단서였어요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이상 징후 — loss는 제일 좋은데 문장이 안 끝나요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6E6A6B"/>
                </a:solidFill>
                <a:latin typeface="맑은 고딕"/>
                <a:ea typeface="맑은 고딕"/>
                <a:cs typeface="맑은 고딕"/>
              </a:rPr>
              <a:t>KoBART 파인튜닝하고 바로 확인한 내용입니다 (test 200건 표본, greedy)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456432" cy="1691640"/>
          </a:xfrm>
          <a:prstGeom prst="roundRect">
            <a:avLst>
              <a:gd name="adj" fmla="val 8000"/>
            </a:avLst>
          </a:prstGeom>
          <a:solidFill>
            <a:srgbClr val="E8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10512"/>
            <a:ext cx="318211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2F3C7E"/>
                </a:solidFill>
                <a:latin typeface="맑은 고딕"/>
                <a:ea typeface="맑은 고딕"/>
                <a:cs typeface="맑은 고딕"/>
              </a:rPr>
              <a:t>3.02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96896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KoBART val_loss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98648"/>
            <a:ext cx="323697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E6A6B"/>
                </a:solidFill>
                <a:latin typeface="맑은 고딕"/>
                <a:ea typeface="맑은 고딕"/>
                <a:cs typeface="맑은 고딕"/>
              </a:rPr>
              <a:t>베이스라인 5.80보다 훨씬 좋아요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56432" cy="1691640"/>
          </a:xfrm>
          <a:prstGeom prst="roundRect">
            <a:avLst>
              <a:gd name="adj" fmla="val 8000"/>
            </a:avLst>
          </a:prstGeom>
          <a:solidFill>
            <a:srgbClr val="F6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810512"/>
            <a:ext cx="318211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19.0%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596896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정상 문장 종결률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898648"/>
            <a:ext cx="323697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E6A6B"/>
                </a:solidFill>
                <a:latin typeface="맑은 고딕"/>
                <a:ea typeface="맑은 고딕"/>
                <a:cs typeface="맑은 고딕"/>
              </a:rPr>
              <a:t>베이스라인은 95.0%인데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645920"/>
            <a:ext cx="3447288" cy="1691640"/>
          </a:xfrm>
          <a:prstGeom prst="roundRect">
            <a:avLst>
              <a:gd name="adj" fmla="val 8000"/>
            </a:avLst>
          </a:prstGeom>
          <a:solidFill>
            <a:srgbClr val="F6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1810512"/>
            <a:ext cx="317296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31.85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2596896"/>
            <a:ext cx="3172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평균 생성 길이 (음절)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1" y="2898648"/>
            <a:ext cx="32278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E6A6B"/>
                </a:solidFill>
                <a:latin typeface="맑은 고딕"/>
                <a:ea typeface="맑은 고딕"/>
                <a:cs typeface="맑은 고딕"/>
              </a:rPr>
              <a:t>정답 15.13의 두 배쯤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" y="3657600"/>
          <a:ext cx="10908792" cy="160934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{5C22544A-7EE6-4342-B048-85BDC9FD1C3A}</a:tableStyleId>
              </a:tblPr>
              <a:tblGrid>
                <a:gridCol w="3200400"/>
                <a:gridCol w="2743200"/>
                <a:gridCol w="2468880"/>
                <a:gridCol w="2496312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91440" marR="91440" marT="18288" marB="18288" anchor="ctr"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길이(음절)</a:t>
                      </a:r>
                    </a:p>
                  </a:txBody>
                  <a:tcPr marL="91440" marR="91440" marT="18288" marB="18288" anchor="ctr"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 종결률</a:t>
                      </a:r>
                    </a:p>
                  </a:txBody>
                  <a:tcPr marL="91440" marR="91440" marT="18288" marB="18288" anchor="ctr"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best val_loss</a:t>
                      </a:r>
                    </a:p>
                  </a:txBody>
                  <a:tcPr marL="91440" marR="91440" marT="18288" marB="18288" anchor="ctr">
                    <a:solidFill>
                      <a:srgbClr val="2F3C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정답 (test A)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15.13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99.5%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9900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KoBART 1차</a:t>
                      </a:r>
                    </a:p>
                  </a:txBody>
                  <a:tcPr marL="91440" marR="91440" marT="18288" marB="18288" anchor="ctr"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900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31.85</a:t>
                      </a:r>
                    </a:p>
                  </a:txBody>
                  <a:tcPr marL="91440" marR="91440" marT="18288" marB="18288" anchor="ctr"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900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19.0%</a:t>
                      </a:r>
                    </a:p>
                  </a:txBody>
                  <a:tcPr marL="91440" marR="91440" marT="18288" marB="18288" anchor="ctr"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3.0183</a:t>
                      </a:r>
                    </a:p>
                  </a:txBody>
                  <a:tcPr marL="91440" marR="91440" marT="18288" marB="18288" anchor="ctr">
                    <a:solidFill>
                      <a:srgbClr val="F7F3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베이스라인 (대조군)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15.48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95.0%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5.7957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40080" y="5440680"/>
            <a:ext cx="10908792" cy="960120"/>
          </a:xfrm>
          <a:prstGeom prst="roundRect">
            <a:avLst>
              <a:gd name="adj" fmla="val 8000"/>
            </a:avLst>
          </a:prstGeom>
          <a:solidFill>
            <a:srgbClr val="E8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568696"/>
            <a:ext cx="104241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설명은 두 가지예요 — </a:t>
            </a:r>
            <a:r>
              <a:rPr sz="1300" b="0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(a) 챗봇은 원래 정답이 여러 개라서 그렇다   /   (b) 파이프라인에 문제가 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925312"/>
            <a:ext cx="104241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(a)로 넘어가면 진짜 문제를 놓칩니다. 그래서 (b)부터 확인했어요.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원인 추적 — 단서 세 개로 좁혀갔습니다</a:t>
            </a:r>
          </a:p>
        </p:txBody>
      </p:sp>
      <p:sp>
        <p:nvSpPr>
          <p:cNvPr id="3" name="Oval 2"/>
          <p:cNvSpPr/>
          <p:nvPr/>
        </p:nvSpPr>
        <p:spPr>
          <a:xfrm>
            <a:off x="658368" y="1636776"/>
            <a:ext cx="402336" cy="402336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1600200"/>
            <a:ext cx="10332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F3C7E"/>
                </a:solidFill>
                <a:latin typeface="맑은 고딕"/>
                <a:ea typeface="맑은 고딕"/>
                <a:cs typeface="맑은 고딕"/>
              </a:rPr>
              <a:t>단서 1   생성 길이랑 종결률부터 재봤어요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194767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정상 종결률 19.0%에 길이는 정답의 두 배  →  "정답이 여러 개라서"로는 설명이 안 됩니다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2569464"/>
            <a:ext cx="402336" cy="402336"/>
          </a:xfrm>
          <a:prstGeom prst="ellipse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532888"/>
            <a:ext cx="10332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단서 2   학습에 들어간 정답 토큰을 직접 찍어봤어요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880360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KoBART 토크나이저가 text_target= 으로 인코딩할 때 EOS를 안 붙입니다  (입력 쪽은 붙이고요)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502152"/>
            <a:ext cx="402336" cy="402336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3465576"/>
            <a:ext cx="10332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F3C7E"/>
                </a:solidFill>
                <a:latin typeface="맑은 고딕"/>
                <a:ea typeface="맑은 고딕"/>
                <a:cs typeface="맑은 고딕"/>
              </a:rPr>
              <a:t>단서 3   그럴듯한 다른 가설도 세어보고 기각했어요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813048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"정답이 잘려서 EOS가 날아간 거 아니냐"  →  실제로 잘리는 건 77 / 9,400건, 0.8%뿐이었습니다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26280"/>
            <a:ext cx="10908792" cy="1783080"/>
          </a:xfrm>
          <a:prstGeom prst="roundRect">
            <a:avLst>
              <a:gd name="adj" fmla="val 8000"/>
            </a:avLst>
          </a:prstGeom>
          <a:solidFill>
            <a:srgbClr val="F6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68172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근본 원인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0292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학습용 정답에 EOS가 없어서, 모델이 "문장을 끝내는 법"을 배울 기회가 아예 없었습니다.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504688"/>
            <a:ext cx="104241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E6A6B"/>
                </a:solidFill>
                <a:latin typeface="맑은 고딕"/>
                <a:ea typeface="맑은 고딕"/>
                <a:cs typeface="맑은 고딕"/>
              </a:rPr>
              <a:t>베이스라인은 왜 멀쩡했냐면 — 직접 짠 encode_text()가 [BOS] + ids + [EOS]로 EOS를 붙이고 있었거든요.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E6A6B"/>
                </a:solidFill>
                <a:latin typeface="맑은 고딕"/>
                <a:ea typeface="맑은 고딕"/>
                <a:cs typeface="맑은 고딕"/>
              </a:rPr>
              <a:t>같은 처리를 전이학습 쪽에만 빠뜨린 겁니다.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EOS 고치고 다시 돌렸습니다 — 통제 실험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6E6A6B"/>
                </a:solidFill>
                <a:latin typeface="맑은 고딕"/>
                <a:ea typeface="맑은 고딕"/>
                <a:cs typeface="맑은 고딕"/>
              </a:rPr>
              <a:t>바꾼 건 정답 인코딩 한 줄뿐이에요. 모델 · lr · 배치 · epoch · 시드 · 데이터는 그대로 뒀습니다.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6492240" cy="307238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46304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91440" marR="91440" marT="18288" marB="18288" anchor="ctr"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수정 전</a:t>
                      </a:r>
                    </a:p>
                  </a:txBody>
                  <a:tcPr marL="91440" marR="91440" marT="18288" marB="18288" anchor="ctr"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수정 후</a:t>
                      </a:r>
                    </a:p>
                  </a:txBody>
                  <a:tcPr marL="91440" marR="91440" marT="18288" marB="18288" anchor="ctr"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91440" marR="91440" marT="18288" marB="18288" anchor="ctr">
                    <a:solidFill>
                      <a:srgbClr val="2F3C7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BLEU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9900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5.21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3C7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7.10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3C7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+36%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ROUGE-L</a:t>
                      </a:r>
                    </a:p>
                  </a:txBody>
                  <a:tcPr marL="91440" marR="91440" marT="18288" marB="18288" anchor="ctr"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9900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19.18</a:t>
                      </a:r>
                    </a:p>
                  </a:txBody>
                  <a:tcPr marL="91440" marR="91440" marT="18288" marB="18288" anchor="ctr"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3C7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24.12</a:t>
                      </a:r>
                    </a:p>
                  </a:txBody>
                  <a:tcPr marL="91440" marR="91440" marT="18288" marB="18288" anchor="ctr"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3C7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+26%</a:t>
                      </a:r>
                    </a:p>
                  </a:txBody>
                  <a:tcPr marL="91440" marR="91440" marT="18288" marB="18288" anchor="ctr">
                    <a:solidFill>
                      <a:srgbClr val="F7F3F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 문장 종결률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9900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19.0%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3C7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97.5%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 단위 반복</a:t>
                      </a:r>
                    </a:p>
                  </a:txBody>
                  <a:tcPr marL="91440" marR="91440" marT="18288" marB="18288" anchor="ctr"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9900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26.3%</a:t>
                      </a:r>
                    </a:p>
                  </a:txBody>
                  <a:tcPr marL="91440" marR="91440" marT="18288" marB="18288" anchor="ctr"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3C7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1.1%</a:t>
                      </a:r>
                    </a:p>
                  </a:txBody>
                  <a:tcPr marL="91440" marR="91440" marT="18288" marB="18288" anchor="ctr"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91440" marR="91440" marT="18288" marB="18288" anchor="ctr">
                    <a:solidFill>
                      <a:srgbClr val="F7F3F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31F2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길이 (형태소)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9900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12.56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F3C7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6.46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6E6A6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정답 6.46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406640" y="1737360"/>
            <a:ext cx="4142232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D6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188366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F3C7E"/>
                </a:solidFill>
                <a:latin typeface="맑은 고딕"/>
                <a:ea typeface="맑은 고딕"/>
                <a:cs typeface="맑은 고딕"/>
              </a:rPr>
              <a:t>같은 질문, 같은 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249424"/>
            <a:ext cx="3685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Q      청첩장을 찍는 날이 오다니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578608"/>
            <a:ext cx="3685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E6A6B"/>
                </a:solidFill>
                <a:latin typeface="맑은 고딕"/>
                <a:ea typeface="맑은 고딕"/>
                <a:cs typeface="맑은 고딕"/>
              </a:rPr>
              <a:t>정답   결혼 얼마 안 남았나봐요.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6265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수정 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236976"/>
            <a:ext cx="36850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E6A6B"/>
                </a:solidFill>
                <a:latin typeface="맑은 고딕"/>
                <a:ea typeface="맑은 고딕"/>
                <a:cs typeface="맑은 고딕"/>
              </a:rPr>
              <a:t>"찍는 찍는 것도 재미있어요. 찍는 것도 재미있어요. 찍는"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95020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F3C7E"/>
                </a:solidFill>
                <a:latin typeface="맑은 고딕"/>
                <a:ea typeface="맑은 고딕"/>
                <a:cs typeface="맑은 고딕"/>
              </a:rPr>
              <a:t>수정 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4224528"/>
            <a:ext cx="3685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"축하해주세요."   ← 한 문장으로 딱 끝나요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120640"/>
            <a:ext cx="10908792" cy="1207008"/>
          </a:xfrm>
          <a:prstGeom prst="roundRect">
            <a:avLst>
              <a:gd name="adj" fmla="val 8000"/>
            </a:avLst>
          </a:prstGeom>
          <a:solidFill>
            <a:srgbClr val="E8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285232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F3C7E"/>
                </a:solidFill>
                <a:latin typeface="맑은 고딕"/>
                <a:ea typeface="맑은 고딕"/>
                <a:cs typeface="맑은 고딕"/>
              </a:rPr>
              <a:t>대조군이 원인을 확정해 줍니다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650992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베이스라인은 이 수정이랑 상관없이 값이 그대로예요. 원래부터 EOS를 붙이고 있었으니까요. 문제가 있던 모델만 정확히 골라서 좋아진 겁니다.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실제 동작 — 같은 질문, 세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5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6E6A6B"/>
                </a:solidFill>
                <a:latin typeface="맑은 고딕"/>
                <a:ea typeface="맑은 고딕"/>
                <a:cs typeface="맑은 고딕"/>
              </a:rPr>
              <a:t>notebooks/09_demo_service.ipynb · 학습한 체크포인트를 그대로 올려 브라우저에서 비교합니다.</a:t>
            </a:r>
          </a:p>
        </p:txBody>
      </p:sp>
      <p:pic>
        <p:nvPicPr>
          <p:cNvPr id="4" name="Picture 3" descr="dem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10908792" cy="2927765"/>
          </a:xfrm>
          <a:prstGeom prst="rect">
            <a:avLst/>
          </a:prstGeom>
          <a:ln w="9525">
            <a:solidFill>
              <a:srgbClr val="DCD6D7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640080" y="4709160"/>
            <a:ext cx="10908792" cy="1600200"/>
          </a:xfrm>
          <a:prstGeom prst="roundRect">
            <a:avLst>
              <a:gd name="adj" fmla="val 8000"/>
            </a:avLst>
          </a:prstGeom>
          <a:solidFill>
            <a:srgbClr val="F6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86460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세 질문 모두 가운데(결함)만 문장이 안 끝납니다 — 다만 잘리는 모양은 다릅니다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230368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청첩장을 찍는 날이 오다니</a:t>
            </a:r>
            <a:r>
              <a:rPr sz="1150" b="0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  →  같은 말 반복 : "찍는 찍는 재미가 있죠. 찍고 오세요. 찍고"</a:t>
            </a:r>
          </a:p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배고파</a:t>
            </a:r>
            <a:r>
              <a:rPr sz="1150" b="0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  →  여러 문장 나열 : "얼른 뭐 좀 드세요! 기운 내세요! 뭐 좀 챙겨"</a:t>
            </a:r>
          </a:p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여자친구랑 헤어졌어</a:t>
            </a:r>
            <a:r>
              <a:rPr sz="1150" b="0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  →  긴 위로가 이어지다 : "헤어졌는데 연락하는게 쉽지 않죠. 힘들겠어요. 걱정되"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최종 모델 비교 — test 1,175건, 디코딩 고정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600200"/>
          <a:ext cx="66751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635240" y="1645920"/>
            <a:ext cx="1874519" cy="1691640"/>
          </a:xfrm>
          <a:prstGeom prst="roundRect">
            <a:avLst>
              <a:gd name="adj" fmla="val 8000"/>
            </a:avLst>
          </a:prstGeom>
          <a:solidFill>
            <a:srgbClr val="E8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810512"/>
            <a:ext cx="160019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2F3C7E"/>
                </a:solidFill>
                <a:latin typeface="맑은 고딕"/>
                <a:ea typeface="맑은 고딕"/>
                <a:cs typeface="맑은 고딕"/>
              </a:rPr>
              <a:t>+49%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596896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BLEU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4967" y="2898648"/>
            <a:ext cx="165506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E6A6B"/>
                </a:solidFill>
                <a:latin typeface="맑은 고딕"/>
                <a:ea typeface="맑은 고딕"/>
                <a:cs typeface="맑은 고딕"/>
              </a:rPr>
              <a:t>4.87 → 7.28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645920"/>
            <a:ext cx="1856231" cy="1691640"/>
          </a:xfrm>
          <a:prstGeom prst="roundRect">
            <a:avLst>
              <a:gd name="adj" fmla="val 8000"/>
            </a:avLst>
          </a:prstGeom>
          <a:solidFill>
            <a:srgbClr val="E8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29800" y="1810512"/>
            <a:ext cx="158191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2F3C7E"/>
                </a:solidFill>
                <a:latin typeface="맑은 고딕"/>
                <a:ea typeface="맑은 고딕"/>
                <a:cs typeface="맑은 고딕"/>
              </a:rPr>
              <a:t>+70%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2596896"/>
            <a:ext cx="15819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231F20"/>
                </a:solidFill>
                <a:latin typeface="맑은 고딕"/>
                <a:ea typeface="맑은 고딕"/>
                <a:cs typeface="맑은 고딕"/>
              </a:rPr>
              <a:t>Distinct-2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02367" y="2898648"/>
            <a:ext cx="163677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E6A6B"/>
                </a:solidFill>
                <a:latin typeface="맑은 고딕"/>
                <a:ea typeface="맑은 고딕"/>
                <a:cs typeface="맑은 고딕"/>
              </a:rPr>
              <a:t>0.303 → 0.515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611880"/>
            <a:ext cx="391363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D6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376732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F3C7E"/>
                </a:solidFill>
                <a:latin typeface="맑은 고딕"/>
                <a:ea typeface="맑은 고딕"/>
                <a:cs typeface="맑은 고딕"/>
              </a:rPr>
              <a:t>학습 비용은 오히려 1/12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409651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E6A6B"/>
                </a:solidFill>
                <a:latin typeface="맑은 고딕"/>
                <a:ea typeface="맑은 고딕"/>
                <a:cs typeface="맑은 고딕"/>
              </a:rPr>
              <a:t>베이스라인 117 epoch인데 KoBART는 10 epoch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754880"/>
            <a:ext cx="3913632" cy="960120"/>
          </a:xfrm>
          <a:prstGeom prst="roundRect">
            <a:avLst>
              <a:gd name="adj" fmla="val 8000"/>
            </a:avLst>
          </a:prstGeom>
          <a:solidFill>
            <a:srgbClr val="F6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491032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val_loss 순위 ≠ BLEU 순위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523951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E6A6B"/>
                </a:solidFill>
                <a:latin typeface="맑은 고딕"/>
                <a:ea typeface="맑은 고딕"/>
                <a:cs typeface="맑은 고딕"/>
              </a:rPr>
              <a:t>하이퍼파라미터 3종이 전부 어긋났어요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61888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F3C7E"/>
                </a:solidFill>
                <a:latin typeface="맑은 고딕"/>
                <a:ea typeface="맑은 고딕"/>
                <a:cs typeface="맑은 고딕"/>
              </a:rPr>
              <a:t>정확도랑 다양성이 같이 올랐어요 — 보통은 하나가 오르면 하나가 내려갑니다.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 · 한계 · 앞으로 할 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08760"/>
            <a:ext cx="3456432" cy="4160520"/>
          </a:xfrm>
          <a:prstGeom prst="roundRect">
            <a:avLst>
              <a:gd name="adj" fmla="val 8000"/>
            </a:avLst>
          </a:prstGeom>
          <a:solidFill>
            <a:srgbClr val="3B4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" y="1737360"/>
            <a:ext cx="402336" cy="402336"/>
          </a:xfrm>
          <a:prstGeom prst="ellipse">
            <a:avLst/>
          </a:prstGeom>
          <a:solidFill>
            <a:srgbClr val="6B7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4752" y="1792224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286000"/>
            <a:ext cx="2980944" cy="3154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10312" indent="-210312">
              <a:spcAft>
                <a:spcPts val="1600"/>
              </a:spcAft>
              <a:buChar char="•"/>
            </a:pPr>
            <a:r>
              <a:rPr sz="1300" b="0" i="0">
                <a:solidFill>
                  <a:srgbClr val="C9D0E8"/>
                </a:solidFill>
                <a:latin typeface="맑은 고딕"/>
                <a:ea typeface="맑은 고딕"/>
                <a:cs typeface="맑은 고딕"/>
              </a:rPr>
              <a:t>전이학습이 베이스라인을 앞섭니다 — BLEU +49%, 학습 비용은 1/12</a:t>
            </a:r>
          </a:p>
          <a:p>
            <a:pPr algn="l" marL="210312" indent="-210312">
              <a:spcAft>
                <a:spcPts val="1600"/>
              </a:spcAft>
              <a:buChar char="•"/>
            </a:pPr>
            <a:r>
              <a:rPr sz="1300" b="0" i="0">
                <a:solidFill>
                  <a:srgbClr val="C9D0E8"/>
                </a:solidFill>
                <a:latin typeface="맑은 고딕"/>
                <a:ea typeface="맑은 고딕"/>
                <a:cs typeface="맑은 고딕"/>
              </a:rPr>
              <a:t>제일 큰 개선은 모델을 바꿔서가 아니라 잘못된 걸 고쳐서 나왔어요</a:t>
            </a:r>
          </a:p>
          <a:p>
            <a:pPr algn="l" marL="210312" indent="-210312">
              <a:spcAft>
                <a:spcPts val="1600"/>
              </a:spcAft>
              <a:buChar char="•"/>
            </a:pPr>
            <a:r>
              <a:rPr sz="1300" b="0" i="0">
                <a:solidFill>
                  <a:srgbClr val="C9D0E8"/>
                </a:solidFill>
                <a:latin typeface="맑은 고딕"/>
                <a:ea typeface="맑은 고딕"/>
                <a:cs typeface="맑은 고딕"/>
              </a:rPr>
              <a:t>loss가 좋다고 생성이 좋은 건 아닙니다 (순위 3/3 어긋남)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508760"/>
            <a:ext cx="3456432" cy="4160520"/>
          </a:xfrm>
          <a:prstGeom prst="roundRect">
            <a:avLst>
              <a:gd name="adj" fmla="val 8000"/>
            </a:avLst>
          </a:prstGeom>
          <a:solidFill>
            <a:srgbClr val="3B4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576" y="1737360"/>
            <a:ext cx="402336" cy="402336"/>
          </a:xfrm>
          <a:prstGeom prst="ellipse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5504" y="1792224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286000"/>
            <a:ext cx="2980944" cy="3154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10312" indent="-210312">
              <a:spcAft>
                <a:spcPts val="1600"/>
              </a:spcAft>
              <a:buChar char="•"/>
            </a:pPr>
            <a:r>
              <a:rPr sz="1300" b="0" i="0">
                <a:solidFill>
                  <a:srgbClr val="F0C2C8"/>
                </a:solidFill>
                <a:latin typeface="맑은 고딕"/>
                <a:ea typeface="맑은 고딕"/>
                <a:cs typeface="맑은 고딕"/>
              </a:rPr>
              <a:t>BLEU가 실제보다 낮게 나와요 — 표면 불일치 10건 중 6건은 사실 괜찮은 답이었습니다</a:t>
            </a:r>
          </a:p>
          <a:p>
            <a:pPr algn="l" marL="210312" indent="-210312">
              <a:spcAft>
                <a:spcPts val="1600"/>
              </a:spcAft>
              <a:buChar char="•"/>
            </a:pPr>
            <a:r>
              <a:rPr sz="1300" b="0" i="0">
                <a:solidFill>
                  <a:srgbClr val="F0C2C8"/>
                </a:solidFill>
                <a:latin typeface="맑은 고딕"/>
                <a:ea typeface="맑은 고딕"/>
                <a:cs typeface="맑은 고딕"/>
              </a:rPr>
              <a:t>설정마다 시드 하나로 한 번씩만 돌렸어요</a:t>
            </a:r>
          </a:p>
          <a:p>
            <a:pPr algn="l" marL="210312" indent="-210312">
              <a:spcAft>
                <a:spcPts val="1600"/>
              </a:spcAft>
              <a:buChar char="•"/>
            </a:pPr>
            <a:r>
              <a:rPr sz="1300" b="0" i="0">
                <a:solidFill>
                  <a:srgbClr val="F0C2C8"/>
                </a:solidFill>
                <a:latin typeface="맑은 고딕"/>
                <a:ea typeface="맑은 고딕"/>
                <a:cs typeface="맑은 고딕"/>
              </a:rPr>
              <a:t>label 쏠림 — 일상 12.01인데 이별 3.91 · 사랑 3.80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508760"/>
            <a:ext cx="3456432" cy="4160520"/>
          </a:xfrm>
          <a:prstGeom prst="roundRect">
            <a:avLst>
              <a:gd name="adj" fmla="val 8000"/>
            </a:avLst>
          </a:prstGeom>
          <a:solidFill>
            <a:srgbClr val="3B4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39327" y="1737360"/>
            <a:ext cx="402336" cy="402336"/>
          </a:xfrm>
          <a:prstGeom prst="ellipse">
            <a:avLst/>
          </a:prstGeom>
          <a:solidFill>
            <a:srgbClr val="6B7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06256" y="1792224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앞으로 할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2286000"/>
            <a:ext cx="2980944" cy="3154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10312" indent="-210312">
              <a:spcAft>
                <a:spcPts val="1600"/>
              </a:spcAft>
              <a:buChar char="•"/>
            </a:pPr>
            <a:r>
              <a:rPr sz="1300" b="0" i="0">
                <a:solidFill>
                  <a:srgbClr val="C9D0E8"/>
                </a:solidFill>
                <a:latin typeface="맑은 고딕"/>
                <a:ea typeface="맑은 고딕"/>
                <a:cs typeface="맑은 고딕"/>
              </a:rPr>
              <a:t>사람 평가나 BERTScore 같은 의미 기반 지표 더하기</a:t>
            </a:r>
          </a:p>
          <a:p>
            <a:pPr algn="l" marL="210312" indent="-210312">
              <a:spcAft>
                <a:spcPts val="1600"/>
              </a:spcAft>
              <a:buChar char="•"/>
            </a:pPr>
            <a:r>
              <a:rPr sz="1300" b="0" i="0">
                <a:solidFill>
                  <a:srgbClr val="C9D0E8"/>
                </a:solidFill>
                <a:latin typeface="맑은 고딕"/>
                <a:ea typeface="맑은 고딕"/>
                <a:cs typeface="맑은 고딕"/>
              </a:rPr>
              <a:t>시드 바꿔서 하이퍼파라미터 실험 다시 돌리기</a:t>
            </a:r>
          </a:p>
          <a:p>
            <a:pPr algn="l" marL="210312" indent="-210312">
              <a:spcAft>
                <a:spcPts val="1600"/>
              </a:spcAft>
              <a:buChar char="•"/>
            </a:pPr>
            <a:r>
              <a:rPr sz="1300" b="0" i="0">
                <a:solidFill>
                  <a:srgbClr val="C9D0E8"/>
                </a:solidFill>
                <a:latin typeface="맑은 고딕"/>
                <a:ea typeface="맑은 고딕"/>
                <a:cs typeface="맑은 고딕"/>
              </a:rPr>
              <a:t>label 1 · 2 데이터 보강하기 (가중 샘플링 등)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16752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1">
                <a:solidFill>
                  <a:srgbClr val="F4D6DA"/>
                </a:solidFill>
                <a:latin typeface="맑은 고딕"/>
                <a:ea typeface="맑은 고딕"/>
                <a:cs typeface="맑은 고딕"/>
              </a:rPr>
              <a:t>지표랑 눈으로 본 결과가 어긋나면, 지표를 의심하기 전에 파이프라인부터 의심하세요.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